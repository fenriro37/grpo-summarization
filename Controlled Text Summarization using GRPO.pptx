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64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5" d="100"/>
          <a:sy n="65" d="100"/>
        </p:scale>
        <p:origin x="9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1598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79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22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01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20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7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210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21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5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82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70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4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6477-C41A-4648-BCFE-D45CC1E79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4024005"/>
          </a:xfrm>
        </p:spPr>
        <p:txBody>
          <a:bodyPr>
            <a:normAutofit/>
          </a:bodyPr>
          <a:lstStyle/>
          <a:p>
            <a:r>
              <a:rPr lang="en-US" b="1" dirty="0"/>
              <a:t>Controlled Text Summarization using GRPO</a:t>
            </a:r>
            <a:br>
              <a:rPr lang="en-US" b="1" dirty="0"/>
            </a:br>
            <a:br>
              <a:rPr lang="en-US" b="1" dirty="0"/>
            </a:br>
            <a:r>
              <a:rPr lang="en-US" sz="1800" b="1" dirty="0"/>
              <a:t>TEXT Mining Project + Project work</a:t>
            </a:r>
            <a:br>
              <a:rPr lang="en-US" sz="1800" b="1" dirty="0"/>
            </a:br>
            <a:r>
              <a:rPr lang="en-US" sz="1800" b="1" dirty="0"/>
              <a:t>Mattia </a:t>
            </a:r>
            <a:r>
              <a:rPr lang="en-US" sz="1800" b="1" dirty="0" err="1"/>
              <a:t>maranzana</a:t>
            </a:r>
            <a:br>
              <a:rPr lang="en-US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13874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06F9-0861-F5BD-7DAA-7B5931EB0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97656"/>
            <a:ext cx="9601200" cy="130968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Problem: Lack of Control in Summarization - I</a:t>
            </a:r>
            <a:br>
              <a:rPr lang="en-US" b="1" dirty="0"/>
            </a:b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3540E-232C-C548-CDA6-C595689EC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71599"/>
            <a:ext cx="9601200" cy="535366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The Challenge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Large Language Models (LLMs) are powerful summarizers but often ignore or approximate specific length constraints.</a:t>
            </a:r>
          </a:p>
          <a:p>
            <a:endParaRPr lang="en-US" b="1" dirty="0">
              <a:latin typeface="+mj-lt"/>
            </a:endParaRPr>
          </a:p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pPr marL="0" indent="0">
              <a:buNone/>
            </a:pPr>
            <a:endParaRPr lang="en-US" b="1" dirty="0">
              <a:latin typeface="+mj-lt"/>
            </a:endParaRPr>
          </a:p>
          <a:p>
            <a:endParaRPr lang="it-IT" dirty="0"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14F889-E25A-4CCB-CF03-C7AE78E8C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563765"/>
              </p:ext>
            </p:extLst>
          </p:nvPr>
        </p:nvGraphicFramePr>
        <p:xfrm>
          <a:off x="1295400" y="2809238"/>
          <a:ext cx="9601200" cy="341376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56620983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46071691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542716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Original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Wrong Summary (3 sentences)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Correct Summary (1 sentence)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687996"/>
                  </a:ext>
                </a:extLst>
              </a:tr>
              <a:tr h="2359151">
                <a:tc>
                  <a:txBody>
                    <a:bodyPr/>
                    <a:lstStyle/>
                    <a:p>
                      <a:r>
                        <a:rPr lang="en-US" sz="1600" dirty="0"/>
                        <a:t>Artificial intelligence is rapidly transforming industries across the globe. From healthcare to finance, AI systems are being used to automate tasks, analyze massive datasets, and assist in decision-making. However, with this growing influence comes serious concerns about transparency, fairness, and accountability.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AI is changing many industries. It helps automate tasks and analyze data. But people worry about fairness and transparency.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Artificial intelligence is revolutionizing multiple industries but raising serious concerns about fairness and accountability.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6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16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A71BE-1B9B-0193-75A5-4D39A6BD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94046-5368-E5EC-BAAB-3CD94640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92624"/>
            <a:ext cx="9601200" cy="130968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Problem: Lack of Control in Summarization - II</a:t>
            </a:r>
            <a:br>
              <a:rPr lang="en-US" b="1" dirty="0"/>
            </a:b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89630-4644-CFDC-F443-94CA39E23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315497"/>
            <a:ext cx="9601200" cy="3520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Why Precise Control Matters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Better User Experience: Summaries fit perfectly in limited spaces — headlines, notifications, or app previews.</a:t>
            </a:r>
          </a:p>
          <a:p>
            <a:r>
              <a:rPr lang="en-US" dirty="0">
                <a:latin typeface="+mj-lt"/>
              </a:rPr>
              <a:t>Consistent Formatting: Essential for standardized outputs like abstracts, legal briefs, and reports.</a:t>
            </a:r>
          </a:p>
          <a:p>
            <a:r>
              <a:rPr lang="en-US" dirty="0">
                <a:latin typeface="+mj-lt"/>
              </a:rPr>
              <a:t>Reliable Output: Guarantees summaries match exactly what the user or system requests.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</a:rPr>
              <a:t>Project Goal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Train a model to generate summaries with precise word and sentence control</a:t>
            </a:r>
            <a:br>
              <a:rPr lang="en-US" dirty="0">
                <a:latin typeface="+mj-lt"/>
              </a:rPr>
            </a:br>
            <a:endParaRPr lang="en-US" b="1" dirty="0">
              <a:latin typeface="+mj-lt"/>
            </a:endParaRPr>
          </a:p>
          <a:p>
            <a:endParaRPr lang="it-IT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114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9D291-DFEC-A687-55DC-0FBF1F0C3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Building a Controlled Dataset</a:t>
            </a:r>
            <a:br>
              <a:rPr lang="it-IT" b="1" dirty="0"/>
            </a:br>
            <a:endParaRPr lang="it-IT" dirty="0"/>
          </a:p>
        </p:txBody>
      </p:sp>
      <p:pic>
        <p:nvPicPr>
          <p:cNvPr id="5" name="Content Placeholder 4" descr="Arrow Right outline">
            <a:extLst>
              <a:ext uri="{FF2B5EF4-FFF2-40B4-BE49-F238E27FC236}">
                <a16:creationId xmlns:a16="http://schemas.microsoft.com/office/drawing/2014/main" id="{96A120C0-83B2-5751-EB6B-F00418003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1317" y="2255195"/>
            <a:ext cx="914400" cy="914400"/>
          </a:xfrm>
        </p:spPr>
      </p:pic>
      <p:pic>
        <p:nvPicPr>
          <p:cNvPr id="7" name="Graphic 6" descr="Database outline">
            <a:extLst>
              <a:ext uri="{FF2B5EF4-FFF2-40B4-BE49-F238E27FC236}">
                <a16:creationId xmlns:a16="http://schemas.microsoft.com/office/drawing/2014/main" id="{796B22E9-8C4C-544E-1D27-2CFAF4DD4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3541" y="2270459"/>
            <a:ext cx="914400" cy="914400"/>
          </a:xfrm>
          <a:prstGeom prst="rect">
            <a:avLst/>
          </a:prstGeom>
        </p:spPr>
      </p:pic>
      <p:pic>
        <p:nvPicPr>
          <p:cNvPr id="9" name="Graphic 8" descr="Network diagram outline">
            <a:extLst>
              <a:ext uri="{FF2B5EF4-FFF2-40B4-BE49-F238E27FC236}">
                <a16:creationId xmlns:a16="http://schemas.microsoft.com/office/drawing/2014/main" id="{19F3FF49-ECE5-37DB-52A3-EF76B34A95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8066" y="2270459"/>
            <a:ext cx="914400" cy="914400"/>
          </a:xfrm>
          <a:prstGeom prst="rect">
            <a:avLst/>
          </a:prstGeom>
        </p:spPr>
      </p:pic>
      <p:pic>
        <p:nvPicPr>
          <p:cNvPr id="13" name="Graphic 12" descr="Newspaper outline">
            <a:extLst>
              <a:ext uri="{FF2B5EF4-FFF2-40B4-BE49-F238E27FC236}">
                <a16:creationId xmlns:a16="http://schemas.microsoft.com/office/drawing/2014/main" id="{DC0211F3-F783-2DD6-5E4F-E6ED65FE75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98884" y="1851388"/>
            <a:ext cx="914400" cy="914400"/>
          </a:xfrm>
          <a:prstGeom prst="rect">
            <a:avLst/>
          </a:prstGeom>
        </p:spPr>
      </p:pic>
      <p:pic>
        <p:nvPicPr>
          <p:cNvPr id="16" name="Graphic 15" descr="Newspaper outline">
            <a:extLst>
              <a:ext uri="{FF2B5EF4-FFF2-40B4-BE49-F238E27FC236}">
                <a16:creationId xmlns:a16="http://schemas.microsoft.com/office/drawing/2014/main" id="{894CC4F3-BBB9-5F35-C7FE-781E9AF9FC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52953" y="2518842"/>
            <a:ext cx="914400" cy="914400"/>
          </a:xfrm>
          <a:prstGeom prst="rect">
            <a:avLst/>
          </a:prstGeom>
        </p:spPr>
      </p:pic>
      <p:pic>
        <p:nvPicPr>
          <p:cNvPr id="17" name="Graphic 16" descr="Newspaper outline">
            <a:extLst>
              <a:ext uri="{FF2B5EF4-FFF2-40B4-BE49-F238E27FC236}">
                <a16:creationId xmlns:a16="http://schemas.microsoft.com/office/drawing/2014/main" id="{83C5F94B-8D40-C0AA-0F01-8A413B1A95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95400" y="2394740"/>
            <a:ext cx="914400" cy="914400"/>
          </a:xfrm>
          <a:prstGeom prst="rect">
            <a:avLst/>
          </a:prstGeom>
        </p:spPr>
      </p:pic>
      <p:pic>
        <p:nvPicPr>
          <p:cNvPr id="18" name="Content Placeholder 4" descr="Arrow Right outline">
            <a:extLst>
              <a:ext uri="{FF2B5EF4-FFF2-40B4-BE49-F238E27FC236}">
                <a16:creationId xmlns:a16="http://schemas.microsoft.com/office/drawing/2014/main" id="{BC0ABCE2-F8DA-2AB7-E04D-BF388621E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5446" y="2255195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6D23300-D3C3-B72A-A639-DE34B86F2913}"/>
              </a:ext>
            </a:extLst>
          </p:cNvPr>
          <p:cNvSpPr txBox="1"/>
          <p:nvPr/>
        </p:nvSpPr>
        <p:spPr>
          <a:xfrm>
            <a:off x="1304588" y="3821557"/>
            <a:ext cx="20967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+mj-lt"/>
              </a:rPr>
              <a:t>Aggregate Datasets</a:t>
            </a:r>
            <a:endParaRPr lang="en-US" sz="1600" b="1" dirty="0">
              <a:latin typeface="+mj-lt"/>
            </a:endParaRPr>
          </a:p>
          <a:p>
            <a:endParaRPr lang="en-US" sz="1600" dirty="0"/>
          </a:p>
          <a:p>
            <a:r>
              <a:rPr lang="en-US" sz="1600" dirty="0">
                <a:latin typeface="+mj-lt"/>
              </a:rPr>
              <a:t>Newsroom, </a:t>
            </a:r>
            <a:r>
              <a:rPr lang="en-US" sz="1600" dirty="0" err="1">
                <a:latin typeface="+mj-lt"/>
              </a:rPr>
              <a:t>BillSum</a:t>
            </a:r>
            <a:r>
              <a:rPr lang="en-US" sz="1600" dirty="0">
                <a:latin typeface="+mj-lt"/>
              </a:rPr>
              <a:t>, CNN → Filter by length</a:t>
            </a:r>
            <a:endParaRPr lang="en-US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00DF7C-C86B-0DD8-11E5-4A4E8CE25B68}"/>
              </a:ext>
            </a:extLst>
          </p:cNvPr>
          <p:cNvSpPr txBox="1"/>
          <p:nvPr/>
        </p:nvSpPr>
        <p:spPr>
          <a:xfrm>
            <a:off x="4708421" y="3635013"/>
            <a:ext cx="20967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+mj-lt"/>
              </a:rPr>
              <a:t>Partition by Constraints</a:t>
            </a:r>
          </a:p>
          <a:p>
            <a:endParaRPr lang="en-US" sz="1600" b="1" dirty="0">
              <a:latin typeface="+mj-lt"/>
            </a:endParaRPr>
          </a:p>
          <a:p>
            <a:r>
              <a:rPr lang="en-US" sz="1600" dirty="0">
                <a:latin typeface="+mj-lt"/>
              </a:rPr>
              <a:t>Word Count Bins: 50, 100… 300</a:t>
            </a:r>
            <a:br>
              <a:rPr lang="en-US" sz="1600" dirty="0">
                <a:latin typeface="+mj-lt"/>
              </a:rPr>
            </a:br>
            <a:r>
              <a:rPr lang="en-US" sz="1600" dirty="0">
                <a:latin typeface="+mj-lt"/>
              </a:rPr>
              <a:t>Sentence Count Bins: 1–6</a:t>
            </a:r>
            <a:endParaRPr lang="it-IT" sz="1600" dirty="0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DFB9DB-CBEF-4FF0-A1F7-E76BA3A3983C}"/>
              </a:ext>
            </a:extLst>
          </p:cNvPr>
          <p:cNvSpPr txBox="1"/>
          <p:nvPr/>
        </p:nvSpPr>
        <p:spPr>
          <a:xfrm>
            <a:off x="7659358" y="3673142"/>
            <a:ext cx="20967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j-lt"/>
              </a:rPr>
              <a:t>Balance &amp; Split</a:t>
            </a:r>
          </a:p>
          <a:p>
            <a:endParaRPr lang="en-US" b="1" dirty="0">
              <a:latin typeface="+mj-lt"/>
            </a:endParaRPr>
          </a:p>
          <a:p>
            <a:r>
              <a:rPr lang="en-US" dirty="0">
                <a:latin typeface="+mj-lt"/>
              </a:rPr>
              <a:t>Train = 275, 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Val = 25, 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Test = 100 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per bin</a:t>
            </a:r>
          </a:p>
        </p:txBody>
      </p:sp>
    </p:spTree>
    <p:extLst>
      <p:ext uri="{BB962C8B-B14F-4D97-AF65-F5344CB8AC3E}">
        <p14:creationId xmlns:p14="http://schemas.microsoft.com/office/powerpoint/2010/main" val="76156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986B0-B020-199E-46A6-11E37B6EF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Model &amp; Training with GRPO</a:t>
            </a:r>
            <a:br>
              <a:rPr lang="it-IT" b="1" dirty="0"/>
            </a:b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7C37E-4E14-258C-E5D7-3BCA915E1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87795"/>
            <a:ext cx="9601200" cy="46899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600" b="1" dirty="0">
                <a:latin typeface="+mj-lt"/>
              </a:rPr>
              <a:t>Base Model:</a:t>
            </a:r>
            <a:r>
              <a:rPr lang="it-IT" sz="1600" dirty="0">
                <a:latin typeface="+mj-lt"/>
              </a:rPr>
              <a:t> meta-llama/Llama-3.2-1B-Instruct</a:t>
            </a:r>
          </a:p>
          <a:p>
            <a:pPr lvl="1"/>
            <a:r>
              <a:rPr lang="it-IT" dirty="0"/>
              <a:t>Tested smaller models (Smol 135M, 360M) → lightweight but poor schema adherence (struggled to maintain XML structure, more on this later).</a:t>
            </a:r>
          </a:p>
          <a:p>
            <a:pPr lvl="1"/>
            <a:r>
              <a:rPr lang="it-IT" dirty="0"/>
              <a:t>Tried larger model (Llama-3.1-8B) → better quality, but GPU memory limits prevented efficient training.</a:t>
            </a:r>
          </a:p>
          <a:p>
            <a:pPr lvl="1"/>
            <a:r>
              <a:rPr lang="it-IT" dirty="0"/>
              <a:t>Llama-3.2-1B offered the best trade-off between performance, controllability, and feasibility.</a:t>
            </a:r>
          </a:p>
          <a:p>
            <a:endParaRPr lang="it-IT" sz="1600" dirty="0">
              <a:latin typeface="+mj-lt"/>
            </a:endParaRPr>
          </a:p>
          <a:p>
            <a:pPr marL="0" indent="0">
              <a:buNone/>
            </a:pPr>
            <a:r>
              <a:rPr lang="en-US" sz="1600" b="1" dirty="0">
                <a:latin typeface="+mj-lt"/>
              </a:rPr>
              <a:t>Training Technique: GRPO (Generative Rejection Post-Optimization)</a:t>
            </a:r>
            <a:endParaRPr lang="en-US" sz="1600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The model generates multiple candidate summaries (e.g., 4).</a:t>
            </a:r>
          </a:p>
          <a:p>
            <a:pPr lvl="1"/>
            <a:r>
              <a:rPr lang="en-US" dirty="0">
                <a:latin typeface="+mj-lt"/>
              </a:rPr>
              <a:t>A custom Reward Function scores each candidate based on how well it follows our rules.</a:t>
            </a:r>
          </a:p>
          <a:p>
            <a:pPr lvl="1"/>
            <a:r>
              <a:rPr lang="en-US" dirty="0">
                <a:latin typeface="+mj-lt"/>
              </a:rPr>
              <a:t>The model learns by comparing the best-scoring summary to the worst-scoring one.</a:t>
            </a:r>
          </a:p>
          <a:p>
            <a:pPr lvl="1"/>
            <a:r>
              <a:rPr lang="en-US" dirty="0">
                <a:latin typeface="+mj-lt"/>
              </a:rPr>
              <a:t>It excels at teaching non-differentiable objectives, like "exactly 50 words," which are difficult for traditional training methods.</a:t>
            </a:r>
            <a:br>
              <a:rPr lang="en-US" dirty="0">
                <a:latin typeface="+mj-lt"/>
              </a:rPr>
            </a:br>
            <a:endParaRPr lang="it-IT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4412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5285-14B8-C21D-D343-28D8D46C1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The Reward System</a:t>
            </a:r>
            <a:br>
              <a:rPr lang="it-IT" b="1" dirty="0"/>
            </a:b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F01B8-2811-706A-DF58-856839627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43548"/>
            <a:ext cx="9601200" cy="45572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Structure Reward </a:t>
            </a:r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Purpose:</a:t>
            </a:r>
            <a:r>
              <a:rPr lang="en-US" dirty="0">
                <a:latin typeface="+mj-lt"/>
              </a:rPr>
              <a:t> Ensure clean, predictable output.</a:t>
            </a:r>
          </a:p>
          <a:p>
            <a:r>
              <a:rPr lang="en-US" b="1" dirty="0">
                <a:latin typeface="+mj-lt"/>
              </a:rPr>
              <a:t>Rule:</a:t>
            </a:r>
            <a:r>
              <a:rPr lang="en-US" dirty="0">
                <a:latin typeface="+mj-lt"/>
              </a:rPr>
              <a:t> The entire output must be enclosed in &lt;summary&gt;...&lt;/summary&gt; tags.</a:t>
            </a:r>
          </a:p>
          <a:p>
            <a:r>
              <a:rPr lang="en-US" b="1" dirty="0">
                <a:latin typeface="+mj-lt"/>
              </a:rPr>
              <a:t>Two different strategies:</a:t>
            </a:r>
          </a:p>
          <a:p>
            <a:pPr lvl="1"/>
            <a:r>
              <a:rPr lang="en-US" dirty="0">
                <a:latin typeface="+mj-lt"/>
              </a:rPr>
              <a:t>Reward: Gives +1.0 for perfectly structured output and 0.0 otherwise.</a:t>
            </a:r>
          </a:p>
          <a:p>
            <a:pPr lvl="1"/>
            <a:r>
              <a:rPr lang="en-US" dirty="0">
                <a:latin typeface="+mj-lt"/>
              </a:rPr>
              <a:t>Penalty: Applies –1.0 penalty for malformed or missing tags, 0.0 if correct.</a:t>
            </a:r>
          </a:p>
          <a:p>
            <a:pPr marL="0" indent="0">
              <a:buNone/>
            </a:pPr>
            <a:r>
              <a:rPr lang="en-US" b="1" dirty="0">
                <a:latin typeface="+mj-lt"/>
              </a:rPr>
              <a:t>Length Reward </a:t>
            </a:r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Purpose:</a:t>
            </a:r>
            <a:r>
              <a:rPr lang="en-US" dirty="0">
                <a:latin typeface="+mj-lt"/>
              </a:rPr>
              <a:t> Enforce strict length constraints.</a:t>
            </a:r>
          </a:p>
          <a:p>
            <a:r>
              <a:rPr lang="en-US" b="1" dirty="0">
                <a:latin typeface="+mj-lt"/>
              </a:rPr>
              <a:t>Three different strategies: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Linear Reward: Score from 0 (worst) to 1 (perfect match).</a:t>
            </a:r>
          </a:p>
          <a:p>
            <a:pPr lvl="1"/>
            <a:r>
              <a:rPr lang="en-US" dirty="0">
                <a:latin typeface="+mj-lt"/>
              </a:rPr>
              <a:t>Linear Penalty: Score from -1 (worst) to 0 (perfect match).</a:t>
            </a:r>
          </a:p>
          <a:p>
            <a:pPr lvl="1"/>
            <a:r>
              <a:rPr lang="en-US" dirty="0">
                <a:latin typeface="+mj-lt"/>
              </a:rPr>
              <a:t>Quadratic Penalty: A harsher penalty that squares the deviation from the target length, heavily punishing large errors.</a:t>
            </a:r>
          </a:p>
          <a:p>
            <a:endParaRPr lang="it-IT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62818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DAD9-73D5-83AC-1A16-413937DBE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37476"/>
            <a:ext cx="9601200" cy="1309687"/>
          </a:xfrm>
        </p:spPr>
        <p:txBody>
          <a:bodyPr>
            <a:normAutofit/>
          </a:bodyPr>
          <a:lstStyle/>
          <a:p>
            <a:r>
              <a:rPr lang="it-IT" b="1" dirty="0"/>
              <a:t>Aggregate Results</a:t>
            </a:r>
            <a:endParaRPr lang="it-IT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394304-6950-50F1-115F-AFD19F1600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5558459"/>
              </p:ext>
            </p:extLst>
          </p:nvPr>
        </p:nvGraphicFramePr>
        <p:xfrm>
          <a:off x="1295400" y="2251362"/>
          <a:ext cx="8925231" cy="376367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75077">
                  <a:extLst>
                    <a:ext uri="{9D8B030D-6E8A-4147-A177-3AD203B41FA5}">
                      <a16:colId xmlns:a16="http://schemas.microsoft.com/office/drawing/2014/main" val="2897516579"/>
                    </a:ext>
                  </a:extLst>
                </a:gridCol>
                <a:gridCol w="2975077">
                  <a:extLst>
                    <a:ext uri="{9D8B030D-6E8A-4147-A177-3AD203B41FA5}">
                      <a16:colId xmlns:a16="http://schemas.microsoft.com/office/drawing/2014/main" val="1120312255"/>
                    </a:ext>
                  </a:extLst>
                </a:gridCol>
                <a:gridCol w="2975077">
                  <a:extLst>
                    <a:ext uri="{9D8B030D-6E8A-4147-A177-3AD203B41FA5}">
                      <a16:colId xmlns:a16="http://schemas.microsoft.com/office/drawing/2014/main" val="1052595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Trained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Untrained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427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rouge1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0.391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3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rougeL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0.235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0.2538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335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word_exact%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0" dirty="0"/>
                        <a:t>0.9 %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0.0 %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717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word_within_tol%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7.4 %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0" dirty="0"/>
                        <a:t>0.95 %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655132"/>
                  </a:ext>
                </a:extLst>
              </a:tr>
              <a:tr h="426115">
                <a:tc>
                  <a:txBody>
                    <a:bodyPr/>
                    <a:lstStyle/>
                    <a:p>
                      <a:r>
                        <a:rPr lang="it-IT" dirty="0"/>
                        <a:t>avg_word_distance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27.9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0" dirty="0"/>
                        <a:t>75.39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305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sent_exact%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53.1 %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0" dirty="0"/>
                        <a:t>29.5 %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918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avg_sent_distance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0.21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0" dirty="0"/>
                        <a:t>1.14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687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format_failure_rate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1" dirty="0"/>
                        <a:t>3.7 %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b="0" dirty="0"/>
                        <a:t>57.6 %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45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valid_examples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954 / 991 (96.3 %)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420 / 991 (42.4 %)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702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47AB7C0-3969-F1AB-E44A-61404252D06A}"/>
              </a:ext>
            </a:extLst>
          </p:cNvPr>
          <p:cNvSpPr txBox="1"/>
          <p:nvPr/>
        </p:nvSpPr>
        <p:spPr>
          <a:xfrm>
            <a:off x="1295400" y="1506319"/>
            <a:ext cx="914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+mj-lt"/>
              </a:rPr>
              <a:t>Obtained with penalty based structure and linear penalty</a:t>
            </a:r>
          </a:p>
          <a:p>
            <a:endParaRPr lang="it-IT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5957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B5004-4E59-A5AC-91B5-80396C468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35040"/>
            <a:ext cx="9601200" cy="1309687"/>
          </a:xfrm>
        </p:spPr>
        <p:txBody>
          <a:bodyPr/>
          <a:lstStyle/>
          <a:p>
            <a:r>
              <a:rPr lang="it-IT" b="1" dirty="0"/>
              <a:t>Intra-Class Performance Analysis</a:t>
            </a:r>
            <a:endParaRPr lang="it-IT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EA4C9E-18FA-E5DB-B961-C85B17A643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2090680"/>
              </p:ext>
            </p:extLst>
          </p:nvPr>
        </p:nvGraphicFramePr>
        <p:xfrm>
          <a:off x="1295400" y="1444726"/>
          <a:ext cx="9601200" cy="4953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83994">
                  <a:extLst>
                    <a:ext uri="{9D8B030D-6E8A-4147-A177-3AD203B41FA5}">
                      <a16:colId xmlns:a16="http://schemas.microsoft.com/office/drawing/2014/main" val="2687997052"/>
                    </a:ext>
                  </a:extLst>
                </a:gridCol>
                <a:gridCol w="1386201">
                  <a:extLst>
                    <a:ext uri="{9D8B030D-6E8A-4147-A177-3AD203B41FA5}">
                      <a16:colId xmlns:a16="http://schemas.microsoft.com/office/drawing/2014/main" val="2503131672"/>
                    </a:ext>
                  </a:extLst>
                </a:gridCol>
                <a:gridCol w="1386201">
                  <a:extLst>
                    <a:ext uri="{9D8B030D-6E8A-4147-A177-3AD203B41FA5}">
                      <a16:colId xmlns:a16="http://schemas.microsoft.com/office/drawing/2014/main" val="1305717323"/>
                    </a:ext>
                  </a:extLst>
                </a:gridCol>
                <a:gridCol w="1386201">
                  <a:extLst>
                    <a:ext uri="{9D8B030D-6E8A-4147-A177-3AD203B41FA5}">
                      <a16:colId xmlns:a16="http://schemas.microsoft.com/office/drawing/2014/main" val="3987656906"/>
                    </a:ext>
                  </a:extLst>
                </a:gridCol>
                <a:gridCol w="1386201">
                  <a:extLst>
                    <a:ext uri="{9D8B030D-6E8A-4147-A177-3AD203B41FA5}">
                      <a16:colId xmlns:a16="http://schemas.microsoft.com/office/drawing/2014/main" val="34884903"/>
                    </a:ext>
                  </a:extLst>
                </a:gridCol>
                <a:gridCol w="1386201">
                  <a:extLst>
                    <a:ext uri="{9D8B030D-6E8A-4147-A177-3AD203B41FA5}">
                      <a16:colId xmlns:a16="http://schemas.microsoft.com/office/drawing/2014/main" val="1377592121"/>
                    </a:ext>
                  </a:extLst>
                </a:gridCol>
                <a:gridCol w="1386201">
                  <a:extLst>
                    <a:ext uri="{9D8B030D-6E8A-4147-A177-3AD203B41FA5}">
                      <a16:colId xmlns:a16="http://schemas.microsoft.com/office/drawing/2014/main" val="81531624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lvl="0" algn="ctr"/>
                      <a:r>
                        <a:rPr lang="it-IT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</a:t>
                      </a:r>
                      <a:endParaRPr lang="it-IT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it-IT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Samples</a:t>
                      </a:r>
                      <a:endParaRPr lang="it-IT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fontAlgn="ctr">
                        <a:buNone/>
                      </a:pPr>
                      <a:r>
                        <a:rPr lang="it-IT" sz="1400" dirty="0">
                          <a:effectLst/>
                        </a:rPr>
                        <a:t>Rouge1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lvl="0" algn="ctr" fontAlgn="ctr">
                        <a:buNone/>
                      </a:pPr>
                      <a:r>
                        <a:rPr lang="it-IT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RougeL</a:t>
                      </a:r>
                      <a:endParaRPr lang="it-IT" sz="14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lvl="0" algn="ctr" fontAlgn="ctr">
                        <a:buNone/>
                      </a:pPr>
                      <a:r>
                        <a:rPr lang="it-IT" sz="1400" dirty="0">
                          <a:effectLst/>
                        </a:rPr>
                        <a:t>Exact_len%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lvl="0" algn="ctr" fontAlgn="ctr">
                        <a:buNone/>
                      </a:pPr>
                      <a:r>
                        <a:rPr lang="it-IT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Word_within_tol%</a:t>
                      </a:r>
                      <a:endParaRPr lang="it-IT" sz="14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it-IT" sz="14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</a:t>
                      </a:r>
                      <a:r>
                        <a:rPr lang="it-IT" sz="1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_distance</a:t>
                      </a:r>
                      <a:endParaRPr lang="it-IT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9811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sent_1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1.00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14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0.00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94429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sent_2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98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0.34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14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0.01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152269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sent_3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98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14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0.43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36222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sent_4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98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14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0.15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045949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sent_5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92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0.83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14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0.17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976078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sent_6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it-IT" sz="14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0.38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181293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word_50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9.716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91351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word_100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19.84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123900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word_150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85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25.15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715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word_200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28.19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860363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word_250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0.47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53.28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749040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word_300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>
                          <a:effectLst/>
                        </a:rPr>
                        <a:t>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0.47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0.00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dirty="0">
                          <a:effectLst/>
                        </a:rPr>
                        <a:t>87.10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26525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898609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758</Words>
  <Application>Microsoft Office PowerPoint</Application>
  <PresentationFormat>Widescreen</PresentationFormat>
  <Paragraphs>175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Goudy Old Style</vt:lpstr>
      <vt:lpstr>Univers Light</vt:lpstr>
      <vt:lpstr>PoiseVTI</vt:lpstr>
      <vt:lpstr>Controlled Text Summarization using GRPO  TEXT Mining Project + Project work Mattia maranzana </vt:lpstr>
      <vt:lpstr>The Problem: Lack of Control in Summarization - I </vt:lpstr>
      <vt:lpstr>The Problem: Lack of Control in Summarization - II </vt:lpstr>
      <vt:lpstr>Building a Controlled Dataset </vt:lpstr>
      <vt:lpstr>Model &amp; Training with GRPO </vt:lpstr>
      <vt:lpstr>The Reward System </vt:lpstr>
      <vt:lpstr>Aggregate Results</vt:lpstr>
      <vt:lpstr>Intra-Class Performance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 Maranzana - mattia.maranzana@studio.unibo.it</dc:creator>
  <cp:lastModifiedBy>Mattia Maranzana - mattia.maranzana@studio.unibo.it</cp:lastModifiedBy>
  <cp:revision>4</cp:revision>
  <dcterms:created xsi:type="dcterms:W3CDTF">2025-10-20T18:01:30Z</dcterms:created>
  <dcterms:modified xsi:type="dcterms:W3CDTF">2025-10-23T08:15:16Z</dcterms:modified>
</cp:coreProperties>
</file>